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FE0C6F-ED7B-41AD-9003-93E20B07A388}">
  <a:tblStyle styleId="{B2FE0C6F-ED7B-41AD-9003-93E20B07A3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f721342d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3f721342d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aa26b32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aa26b32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Topic 4 目標是讓 AI 像人類一樣評估問答品質。這是一個多標籤回歸任務，輸入包含標題、內文與回答 ，需預測幫助性、清晰度等 30 個主觀分數 。資料涵蓋技術與生活等多領域 ，最終以 Spearman 相關係數評估預測排序的準確性 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3f721342d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3f721342d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首先面臨的是</a:t>
            </a:r>
            <a:r>
              <a:rPr b="1" lang="zh-TW">
                <a:solidFill>
                  <a:schemeClr val="dk1"/>
                </a:solidFill>
              </a:rPr>
              <a:t>標籤的主觀性</a:t>
            </a:r>
            <a:r>
              <a:rPr lang="zh-TW">
                <a:solidFill>
                  <a:schemeClr val="dk1"/>
                </a:solidFill>
              </a:rPr>
              <a:t>挑戰。這 30 個預測目標源自人類評分，存在明顯的標註偏差 (Bias) 與雜訊 。此外，標籤間具有複雜的</a:t>
            </a:r>
            <a:r>
              <a:rPr b="1" lang="zh-TW">
                <a:solidFill>
                  <a:schemeClr val="dk1"/>
                </a:solidFill>
              </a:rPr>
              <a:t>相依性</a:t>
            </a:r>
            <a:r>
              <a:rPr lang="zh-TW">
                <a:solidFill>
                  <a:schemeClr val="dk1"/>
                </a:solidFill>
              </a:rPr>
              <a:t>，例如『回答幫助性』與『相關性』往往高度連動，模型必須能有效捕捉這些內在關聯，而非僅將每個分數視為獨立任務來預測。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3f721342d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3f721342d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第二是</a:t>
            </a:r>
            <a:r>
              <a:rPr b="1" lang="zh-TW">
                <a:solidFill>
                  <a:schemeClr val="dk1"/>
                </a:solidFill>
              </a:rPr>
              <a:t>輸入資料的非結構化</a:t>
            </a:r>
            <a:r>
              <a:rPr lang="zh-TW">
                <a:solidFill>
                  <a:schemeClr val="dk1"/>
                </a:solidFill>
              </a:rPr>
              <a:t>。文本中充斥著 HTML 標籤、程式碼片段與數學公式，這些雜訊容易干擾 BERT 模型的語意理解 。此外，問答總長度經常超過 512 tokens 的限制，若直接截斷，常導致位於段落末尾的關鍵回答資訊遺失，因此需要設計更有效的長文本處理策略。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f721342d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f721342d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最後是</a:t>
            </a:r>
            <a:r>
              <a:rPr b="1" lang="zh-TW">
                <a:solidFill>
                  <a:schemeClr val="dk1"/>
                </a:solidFill>
              </a:rPr>
              <a:t>優化目標的落差</a:t>
            </a:r>
            <a:r>
              <a:rPr lang="zh-TW">
                <a:solidFill>
                  <a:schemeClr val="dk1"/>
                </a:solidFill>
              </a:rPr>
              <a:t>。標籤數據分佈極度不均，常集中在特定數值，導致模型傾向預測安全的平均值。更關鍵的是，訓練用的 MSE Loss 與競賽評測的 </a:t>
            </a:r>
            <a:r>
              <a:rPr b="1" lang="zh-TW">
                <a:solidFill>
                  <a:schemeClr val="dk1"/>
                </a:solidFill>
              </a:rPr>
              <a:t>Spearman 排序指標</a:t>
            </a:r>
            <a:r>
              <a:rPr lang="zh-TW">
                <a:solidFill>
                  <a:schemeClr val="dk1"/>
                </a:solidFill>
              </a:rPr>
              <a:t> 存在本質差異，這意味著單純降低 Loss，並不保證能直接提升最終的 Leaderboard 排名。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f721342d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f721342d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f8fae6266f0bda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f8fae6266f0bda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(第一部分：清理資料)</a:t>
            </a:r>
            <a:r>
              <a:rPr lang="zh-TW">
                <a:solidFill>
                  <a:schemeClr val="dk1"/>
                </a:solidFill>
              </a:rPr>
              <a:t> 「第一步我們要做的是『資料清洗』。簡單說，就是把標題、內文跟回答這三個欄位整理乾淨。 原始資料通常滿髒的，裡面會夾雜一堆 Tab 鍵、亂七八糟的換行，或是多餘的空格。我們的做法很直接：把這些雜訊全部拿掉，統一變成一個簡單的空格。 另外，我們也會把頭尾多餘的空白修剪掉。這樣做的好處是，模型才不會浪費算力去讀一堆沒意義的『空氣』，可以直接專注在真正的內容上。」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(第二部分：把資料串起來)</a:t>
            </a:r>
            <a:r>
              <a:rPr lang="zh-TW">
                <a:solidFill>
                  <a:schemeClr val="dk1"/>
                </a:solidFill>
              </a:rPr>
              <a:t> 「清乾淨之後，第二步就是『串接』。 因為 BERT 這個模型沒辦法一次讀三個分開的欄位，它需要的是一整條連續的文字流。所以，我們得把剛剛整理好的標題、內文跟回答全部串在一起，變成一個長句子丟給它。」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(第三部分：關鍵的分隔線)</a:t>
            </a:r>
            <a:r>
              <a:rPr lang="zh-TW">
                <a:solidFill>
                  <a:schemeClr val="dk1"/>
                </a:solidFill>
              </a:rPr>
              <a:t> 「但這邊有個重點：如果只是單純把文字全部黏在一起，模型會搞不清楚問題是在哪裡結束、回答又是從哪裡開始的。 為了解決這個問題，我們會插入一個特殊的記號，叫做 </a:t>
            </a:r>
            <a:r>
              <a:rPr b="1" lang="zh-TW">
                <a:solidFill>
                  <a:schemeClr val="dk1"/>
                </a:solidFill>
              </a:rPr>
              <a:t>[SEP] token</a:t>
            </a:r>
            <a:r>
              <a:rPr lang="zh-TW">
                <a:solidFill>
                  <a:schemeClr val="dk1"/>
                </a:solidFill>
              </a:rPr>
              <a:t>。 大家可以把它想像成一條『分界線』。它很明確地告訴模型：『問題講完了喔，接下來是回答』，這樣訓練的時候才不會語意錯亂。」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0b70c42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0b70c42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「接著是 Code 2，它展示了完整的訓練架構。相比 Baseline，它通常採用 RoBERTa 並引入 Dropout 防止過擬合。最關鍵的差異在於使用 </a:t>
            </a:r>
            <a:r>
              <a:rPr b="1" lang="zh-TW">
                <a:solidFill>
                  <a:schemeClr val="dk1"/>
                </a:solidFill>
              </a:rPr>
              <a:t>Mean Pooling (平均池化)</a:t>
            </a:r>
            <a:r>
              <a:rPr lang="zh-TW">
                <a:solidFill>
                  <a:schemeClr val="dk1"/>
                </a:solidFill>
              </a:rPr>
              <a:t>，綜合考量所有 tokens 的語意，而非單點採樣，這能更完整捕捉長文本特徵。同時使用 </a:t>
            </a:r>
            <a:r>
              <a:rPr b="1" lang="zh-TW">
                <a:solidFill>
                  <a:schemeClr val="dk1"/>
                </a:solidFill>
              </a:rPr>
              <a:t>BCEWithLogitsLoss</a:t>
            </a:r>
            <a:r>
              <a:rPr lang="zh-TW">
                <a:solidFill>
                  <a:schemeClr val="dk1"/>
                </a:solidFill>
              </a:rPr>
              <a:t> 函數，提升了多標籤回歸任務在訓練時的數值穩定性。」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f721342d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f721342d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首先分析 Code 1，這是一個標準的推論 Baseline。它載入預訓練的 BERT-base 模型，採用最簡單的 </a:t>
            </a:r>
            <a:r>
              <a:rPr b="1"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[CLS]</a:t>
            </a:r>
            <a:r>
              <a:rPr b="1" lang="zh-TW">
                <a:solidFill>
                  <a:schemeClr val="dk1"/>
                </a:solidFill>
              </a:rPr>
              <a:t> Token 池化策略</a:t>
            </a:r>
            <a:r>
              <a:rPr lang="zh-TW">
                <a:solidFill>
                  <a:schemeClr val="dk1"/>
                </a:solidFill>
              </a:rPr>
              <a:t>，直接用第一個 token 代表整篇問答的語意。雖然結構簡單且推論速度快，但這種單點壓縮的方式，容易遺失長文本中的細節資訊。最後透過全連接層輸出 30 個分數，並用 Sigmoid 確保數值落在 0 到 1 之間。」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0b70c42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0b70c42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f721342d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3f721342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f72134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3f72134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f721342d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3f721342d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(第一部分：清理資料)</a:t>
            </a:r>
            <a:r>
              <a:rPr lang="zh-TW">
                <a:solidFill>
                  <a:schemeClr val="dk1"/>
                </a:solidFill>
              </a:rPr>
              <a:t> 「第一步就是把標題、內文跟回答這三個欄位整理一下，讓它們規格統一。 原始資料通常滿亂的，裡面會夾雜一堆 Tab 鍵、亂跳的換行，或是重複的空格。我們的做法很乾脆：把這些雜訊全部清掉，統一換成一個簡單的空格。 另外，頭尾多餘的空白我們也會切掉。這樣模型可以直接專注在真正的內容上。」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(第二部分：把資料串起來)</a:t>
            </a:r>
            <a:r>
              <a:rPr lang="zh-TW">
                <a:solidFill>
                  <a:schemeClr val="dk1"/>
                </a:solidFill>
              </a:rPr>
              <a:t> 「資料清乾淨之後，第二步就是『拼接』。 因為像 BERT 這種模型，沒辦法一次吃三個分開的欄位，它要的是一整串連續的文字流。所以，我們得把剛剛整理好的那些資料全部串起來，變成一個長句子丟給它。」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(第三部分：關鍵的分隔線)</a:t>
            </a:r>
            <a:r>
              <a:rPr lang="zh-TW">
                <a:solidFill>
                  <a:schemeClr val="dk1"/>
                </a:solidFill>
              </a:rPr>
              <a:t> 「如果只是單純把文字全部黏在一起，模型會搞不清楚問題是在哪裡講完、回答又是從哪裡開始的。 為了解決這個問題，我們會塞一個特殊的記號進去，叫做 </a:t>
            </a:r>
            <a:r>
              <a:rPr b="1" lang="zh-TW">
                <a:solidFill>
                  <a:schemeClr val="dk1"/>
                </a:solidFill>
              </a:rPr>
              <a:t>[SEP] token</a:t>
            </a:r>
            <a:r>
              <a:rPr lang="zh-TW">
                <a:solidFill>
                  <a:schemeClr val="dk1"/>
                </a:solidFill>
              </a:rPr>
              <a:t>。它很清楚地跟模型說：『問題到這裡結束喔，接下來是回答』，這樣訓練的時候才不會語意錯亂。」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bc156e501_4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bc156e501_4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1. 清理 HTML 雜訊</a:t>
            </a:r>
            <a:r>
              <a:rPr lang="zh-TW">
                <a:solidFill>
                  <a:schemeClr val="dk1"/>
                </a:solidFill>
              </a:rPr>
              <a:t> 「第一點，我們處理了 HTML 的問題。 原本的資料裡頭充滿了那種亂七八糟的網頁標籤跟編碼符號。我們的做法是用 Python 的工具把這些符號解碼，再用正規表示式 (Regex) 把標籤全部『洗』乾淨，讓文字變回人看得懂的樣子。」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2. 簡化數學公式</a:t>
            </a:r>
            <a:r>
              <a:rPr lang="zh-TW">
                <a:solidFill>
                  <a:schemeClr val="dk1"/>
                </a:solidFill>
              </a:rPr>
              <a:t> 「第二點是簡化數學公式。 那些複雜的 LaTeX 算式很容易讓模型『暈船』，反而學不到東西。所以我們直接用一個簡單的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[MATH]</a:t>
            </a:r>
            <a:r>
              <a:rPr lang="zh-TW">
                <a:solidFill>
                  <a:schemeClr val="dk1"/>
                </a:solidFill>
              </a:rPr>
              <a:t> 標記把所有公式換掉。這樣做可以讓模型知道『喔，這邊原本有個公式』，但不用卡在那邊硬要讀懂它。」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3. 聰明的截斷策略</a:t>
            </a:r>
            <a:r>
              <a:rPr lang="zh-TW">
                <a:solidFill>
                  <a:schemeClr val="dk1"/>
                </a:solidFill>
              </a:rPr>
              <a:t> 「最後，我們搞定了長度爆掉的問題。 之前如果問題寫太長，最後面的『回答』就會直接被切掉。我們改用一種『留頭留尾』的策略：如果不夠放，我們就把</a:t>
            </a:r>
            <a:r>
              <a:rPr b="1" lang="zh-TW">
                <a:solidFill>
                  <a:schemeClr val="dk1"/>
                </a:solidFill>
              </a:rPr>
              <a:t>中間</a:t>
            </a:r>
            <a:r>
              <a:rPr lang="zh-TW">
                <a:solidFill>
                  <a:schemeClr val="dk1"/>
                </a:solidFill>
              </a:rPr>
              <a:t>那一塊切掉，只留開頭跟結尾。最重要的是，這樣才能確保最後面的『回答』一定有位子，會被模型看到。」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f8fae6266f0bda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f8fae6266f0bda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1. 遮蔽數字 (Masking Numbers)</a:t>
            </a:r>
            <a:r>
              <a:rPr lang="zh-TW">
                <a:solidFill>
                  <a:schemeClr val="dk1"/>
                </a:solidFill>
              </a:rPr>
              <a:t> 「第一點，我們把數字給『遮蔽』掉了。 在技術問答裡，像 User ID 或是時間戳記這種數字，通常都是雜訊，沒什麼實質意義。我們把它們全部換成通用的代號，這樣模型才不會去死記那些隨機的數字，而是被強迫去理解真正的上下文。」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2. 還原縮寫 (Expanding Contractions)</a:t>
            </a:r>
            <a:r>
              <a:rPr lang="zh-TW">
                <a:solidFill>
                  <a:schemeClr val="dk1"/>
                </a:solidFill>
              </a:rPr>
              <a:t> 「第二點是把『縮寫還原』。 像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we're</a:t>
            </a:r>
            <a:r>
              <a:rPr lang="zh-TW">
                <a:solidFill>
                  <a:schemeClr val="dk1"/>
                </a:solidFill>
              </a:rPr>
              <a:t> 跟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 are</a:t>
            </a:r>
            <a:r>
              <a:rPr lang="zh-TW">
                <a:solidFill>
                  <a:schemeClr val="dk1"/>
                </a:solidFill>
              </a:rPr>
              <a:t> 意思明明一樣，但在電腦眼裡，它們是完全不同的 Token。我們把這些縮寫全部還原成完整的寫法，讓語法規格統一，這樣模型學起來會輕鬆很多。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3. 標記元數據 (Classifying Metadata)</a:t>
            </a:r>
            <a:r>
              <a:rPr lang="zh-TW">
                <a:solidFill>
                  <a:schemeClr val="dk1"/>
                </a:solidFill>
              </a:rPr>
              <a:t> 「最後一點，我們對 metadata（元數據）做了明確的分類標記。 以前可能只是丟一堆文字給模型，現在我們會清楚地標上類別——像是『文學』或『科技』。這就像是給模型一個『課前提示』(Hint)，讓它在還沒開始讀題目之前，就先心裡有數，知道這題大概是在講哪個領域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0b70c42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0b70c4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a26b328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aa26b32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a26b32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aa26b32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aa26b328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aa26b328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a26b32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aa26b32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3f721342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3f721342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c156e501_4_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bc156e501_4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3f721342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3f721342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NLP checkpoint 1</a:t>
            </a:r>
            <a:endParaRPr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59825" y="3170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NTHU</a:t>
            </a:r>
            <a:r>
              <a:rPr lang="zh-TW"/>
              <a:t>黃少與他的狗🐶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415775" y="3880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影片：https://drive.google.com/file/d/1y3xkvG-ytLsZ5fkpdYs-byNw9fYyYi7y/view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Datasets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 Overview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Input Features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question_title: Short description of the question.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question_body: Detailed description (may contain code blocks, images, LaTeX).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answer: The response provided by a user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/>
              <a:t>Target Labels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Dimensions: 30 different labels for each Q&amp;A pair.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Value Range: Continuous values between 0 and 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9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Difficulties 1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/>
              <a:t>1. High-Dimensional &amp; Subjective Labels</a:t>
            </a:r>
            <a:endParaRPr b="1" sz="2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zh-TW"/>
              <a:t>Subjectivity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Target scores (e.g., helpfulness, clarity) are subjective and generated by human raters.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Problem: High label noise (Annotator Bias).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/>
              <a:t>Target Correlation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Predicting 30 distinct labels simultaneously.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Observation: Some labels are highly correlated (e.g., answer_helpful vs. answer_relevance), while others are sparse.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Problem: Needs a model capable of capturing inter-label dependencies.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29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Difficulties 2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2</a:t>
            </a:r>
            <a:r>
              <a:rPr b="1" lang="zh-TW" sz="2400"/>
              <a:t>. </a:t>
            </a:r>
            <a:r>
              <a:rPr b="1" lang="zh-TW" sz="2400"/>
              <a:t>Unstructured &amp; Mixed-Modality Input</a:t>
            </a:r>
            <a:endParaRPr b="1" sz="2400"/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zh-TW" sz="2000"/>
              <a:t>Noisy Text Structure</a:t>
            </a:r>
            <a:endParaRPr b="1"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Inputs contain HTML tags (&lt;div&gt;, &lt;p&gt;), Code snippets (def function():), and LaTeX equations.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Problem: Standard BERT tokenizers may split code keywords meaningfully, or get distracted by HTML tags, losing semantic focus.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2000"/>
              <a:t>Long Sequence Length</a:t>
            </a:r>
            <a:endParaRPr b="1"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Combined length of Title + Question Body + Answer often exceeds 512 tokens (BERT limit).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Problem: Truncation leads to information loss (e.g., the key part of the answer might be at the end).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9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Difficulties 3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3. Distribution &amp; Metric Mismatch</a:t>
            </a:r>
            <a:endParaRPr b="1" sz="2400"/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zh-TW" sz="2000"/>
              <a:t>Label Distribution</a:t>
            </a:r>
            <a:endParaRPr b="1"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Most scores are not normally distributed; many are clustered around specific values (e.g., 0, 0.5, 1.0) or heavily skewed.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Problem: Regression models (using MSE Loss) tend to predict the "mean," failing to capture the ranking nuances.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2000"/>
              <a:t>Optimization Challenge</a:t>
            </a:r>
            <a:endParaRPr b="1"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Metric: Spearman's Correlation (Ranking-based).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Loss: MSE / BCE (Value-based).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Problem: Improving Loss does not always improve the Leaderboard score (Gap between training objective and evaluation metric).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ctrTitle"/>
          </p:nvPr>
        </p:nvSpPr>
        <p:spPr>
          <a:xfrm>
            <a:off x="311700" y="562250"/>
            <a:ext cx="8520600" cy="323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Kaggle Code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Preprocess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21"/>
          <p:cNvGraphicFramePr/>
          <p:nvPr/>
        </p:nvGraphicFramePr>
        <p:xfrm>
          <a:off x="7503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{B2FE0C6F-ED7B-41AD-9003-93E20B07A388}</a:tableStyleId>
              </a:tblPr>
              <a:tblGrid>
                <a:gridCol w="1334650"/>
                <a:gridCol w="3406225"/>
                <a:gridCol w="2902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 (inference)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 (labelling)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Manually cleans and structures data to maximize signal.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Relies on the model (BERT) to figure out patterns from raw text.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Cleaning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Masks numbers, expands contractions and spaces punctuation.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Passes raw text directly to the tokenizer.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Long 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Cuts out the middle of long texts to keep the intro and conclusion.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Cuts off the end of the text. Risks losing the answer if the question body is too long.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Metadata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Extracts URL domains (netloc) and one-hot encodes them as separate tabular features.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Appends Category and Hostname as text at the end of the input string.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Input Format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[CLS] Title [SEP] Body [SEP] Answer [SEP]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Title [SEP] Body [SEP] Answer [SEP] Category [SEP] Host.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A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846650"/>
            <a:ext cx="8710500" cy="43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1. Enhanced Architecture</a:t>
            </a:r>
            <a:endParaRPr b="1"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Backbone Upgrade:</a:t>
            </a:r>
            <a:r>
              <a:rPr lang="zh-TW" sz="1600"/>
              <a:t> Likely employs </a:t>
            </a:r>
            <a:r>
              <a:rPr b="1" lang="zh-TW" sz="1600"/>
              <a:t>RoBERTa</a:t>
            </a:r>
            <a:r>
              <a:rPr lang="zh-TW" sz="1600"/>
              <a:t> or a customized BERT variant.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Advantage: Optimized pre-training (removing NSP loss) provides better contextual understanding for Q&amp;A tasks than standard BERT.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Dropout Regularization:</a:t>
            </a:r>
            <a:r>
              <a:rPr lang="zh-TW" sz="1600"/>
              <a:t> Includes </a:t>
            </a:r>
            <a:r>
              <a:rPr b="1" lang="zh-TW" sz="1600"/>
              <a:t>Dropout</a:t>
            </a:r>
            <a:r>
              <a:rPr lang="zh-TW" sz="1600"/>
              <a:t> layers before the final classification head to prevent overfitting on the relatively small dataset.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/>
              <a:t>2. Advanced Pooling &amp; Optimization</a:t>
            </a:r>
            <a:endParaRPr b="1"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Pooling Strategy:</a:t>
            </a:r>
            <a:r>
              <a:rPr lang="zh-TW" sz="1600"/>
              <a:t> Moves beyond [CLS] to </a:t>
            </a:r>
            <a:r>
              <a:rPr b="1" lang="zh-TW" sz="1600"/>
              <a:t>Mean/Average Pooling</a:t>
            </a:r>
            <a:endParaRPr b="1" sz="1600"/>
          </a:p>
          <a:p>
            <a:pPr indent="-33020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Computes the average of all token embeddings in the sequence (torch.mean(hidden_states, dim=1)).</a:t>
            </a:r>
            <a:endParaRPr sz="1600"/>
          </a:p>
          <a:p>
            <a:pPr indent="-33020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Benefit: Captures global context and reduces noise from individual tokens.</a:t>
            </a:r>
            <a:endParaRPr sz="12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Loss Function:</a:t>
            </a:r>
            <a:r>
              <a:rPr lang="zh-TW" sz="1600"/>
              <a:t> Implements BCEWithLogitsLoss.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Combines a Sigmoid layer and the BCELoss in one single class.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Provides more numerical stability during backpropagation compared to separating Sigmoid and BCELoss.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</a:t>
            </a:r>
            <a:r>
              <a:rPr lang="zh-TW"/>
              <a:t>B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846650"/>
            <a:ext cx="8710500" cy="43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1. </a:t>
            </a:r>
            <a:r>
              <a:rPr b="1" lang="zh-TW" sz="1600"/>
              <a:t>Backbone Selection</a:t>
            </a:r>
            <a:endParaRPr b="1"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Model Type:</a:t>
            </a:r>
            <a:r>
              <a:rPr lang="zh-TW" sz="1600"/>
              <a:t> Utilizes a standard </a:t>
            </a:r>
            <a:r>
              <a:rPr b="1" lang="zh-TW" sz="1600"/>
              <a:t>BERT-base-uncased</a:t>
            </a:r>
            <a:r>
              <a:rPr lang="zh-TW" sz="1600"/>
              <a:t> (or similar Transformer) model.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Purpose:</a:t>
            </a:r>
            <a:r>
              <a:rPr lang="zh-TW" sz="1600"/>
              <a:t> Acts purely as a feature extractor to convert tokenized input (Question + Answer) into dense vectors.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Inference Mode:</a:t>
            </a:r>
            <a:r>
              <a:rPr lang="zh-TW" sz="1600"/>
              <a:t> Loads pre-trained weights directly, skipping the training overhead.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/>
              <a:t>2. Advanced </a:t>
            </a:r>
            <a:r>
              <a:rPr b="1" lang="zh-TW" sz="1600"/>
              <a:t>&amp; </a:t>
            </a:r>
            <a:r>
              <a:rPr b="1" lang="zh-TW" sz="1600"/>
              <a:t>Pooling</a:t>
            </a:r>
            <a:endParaRPr b="1"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Token Aggregation: </a:t>
            </a:r>
            <a:r>
              <a:rPr lang="zh-TW" sz="1600"/>
              <a:t>Relies on the [CLS] </a:t>
            </a:r>
            <a:r>
              <a:rPr b="1" lang="zh-TW" sz="1600"/>
              <a:t>Token Strategy.</a:t>
            </a:r>
            <a:endParaRPr b="1"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Extracts the first token's hidden state to represent the entire sequence.</a:t>
            </a:r>
            <a:endParaRPr sz="1600"/>
          </a:p>
          <a:p>
            <a:pPr indent="-33020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Limitation: The [CLS] token acts as a bottleneck, often struggling to capture detailed semantics in longer texts (512+ tokens).</a:t>
            </a:r>
            <a:endParaRPr sz="12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Output Layer: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A simple </a:t>
            </a:r>
            <a:r>
              <a:rPr b="1" lang="zh-TW" sz="1600"/>
              <a:t>Linear Layer</a:t>
            </a:r>
            <a:endParaRPr b="1"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Maps the 768-dim BERT embedding to the </a:t>
            </a:r>
            <a:r>
              <a:rPr b="1" lang="zh-TW" sz="1600"/>
              <a:t>30 target scores</a:t>
            </a:r>
            <a:r>
              <a:rPr lang="zh-TW" sz="1600"/>
              <a:t> required by the competition.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Uses </a:t>
            </a:r>
            <a:r>
              <a:rPr b="1" lang="zh-TW" sz="1600"/>
              <a:t>Sigmoid Activation</a:t>
            </a:r>
            <a:r>
              <a:rPr lang="zh-TW" sz="1600"/>
              <a:t> to ensure outputs are constrained between 0 and 1.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Postprocess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35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/>
              <a:t>CodeA Sort all prediction scores in the column from smallest to largest, select the bottom X%, and force those bottom entries to be changed to 0.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900" y="1128775"/>
            <a:ext cx="3262475" cy="364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30950" y="478950"/>
            <a:ext cx="3579300" cy="3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zh-TW" sz="1300">
                <a:solidFill>
                  <a:schemeClr val="dk1"/>
                </a:solidFill>
              </a:rPr>
              <a:t>1. The Scenario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Imagine a teacher who is very strict and only gives three possible grades: 0, 50, or 100.This is your Ground Truth.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zh-TW" sz="1300">
                <a:solidFill>
                  <a:schemeClr val="dk1"/>
                </a:solidFill>
              </a:rPr>
              <a:t>2. The Problem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Your AI model is trying to predict these grades, but it is too precise.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For Student A, it predicts: 49.9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For Student B, it predicts: 50.1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Because 50.1 &gt; 49.9, the AI thinks "Student B is better than Student A."However, in reality, both students actually received the same grade (50). The AI has created a false ranking.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zh-TW" sz="1300">
                <a:solidFill>
                  <a:schemeClr val="dk1"/>
                </a:solidFill>
              </a:rPr>
              <a:t>3. The Solution (Snap-to-Grid)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We force the AI's predictions to "snap" to the nearest valid grade</a:t>
            </a:r>
            <a:r>
              <a:rPr lang="zh-TW" sz="1100">
                <a:solidFill>
                  <a:schemeClr val="dk1"/>
                </a:solidFill>
              </a:rPr>
              <a:t>.We change 49.9 -&gt;50, </a:t>
            </a:r>
            <a:r>
              <a:rPr lang="zh-TW" sz="1100">
                <a:solidFill>
                  <a:schemeClr val="dk1"/>
                </a:solidFill>
              </a:rPr>
              <a:t>50.1 -&gt; 50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800" y="550275"/>
            <a:ext cx="5182750" cy="36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311700" y="2042700"/>
            <a:ext cx="8520600" cy="10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Our Method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Preprocessing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The preprocess consists of two parts. The first part goes through the three main text columns and replaces tabs, double spaces and new lines with a single space. It also removes spaces from the start and end of a text. We then construct the input string by stitching the pieces of data into one single sequence. After doing so, a special marker [SEP] is inserted so that the model does not get confused about where the question ends and where the answer starts.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Preprocessing Fix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740800" cy="3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Fix1: We modified the preprocess part to use Python's html library to decode symbols and regex to remove tags of input consisting of html.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Fix2: We replaced the math formulas in the input with a placeholder [MATH] so that the model does not have to read </a:t>
            </a:r>
            <a:r>
              <a:rPr lang="zh-TW"/>
              <a:t>LaTeX equations like $\frac{x}{y}$.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Fix3: If the body is too long, the answer gets cut off by the tokenizer. We fix this by keeping 50% of the the head and tail and cutting off the middle is the input is too long.</a:t>
            </a:r>
            <a:endParaRPr/>
          </a:p>
        </p:txBody>
      </p:sp>
      <p:pic>
        <p:nvPicPr>
          <p:cNvPr id="145" name="Google Shape;145;p28" title="螢幕擷取畫面 2025-12-03 2339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186" y="3508664"/>
            <a:ext cx="4043824" cy="16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Preprocessing Fix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740800" cy="3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Fix4: We also masked the numbers to preven overfittingto specific </a:t>
            </a:r>
            <a:r>
              <a:rPr lang="zh-TW"/>
              <a:t>data</a:t>
            </a:r>
            <a:r>
              <a:rPr lang="zh-TW"/>
              <a:t> or IDs.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Fix5: Contraction expansion added to make the model not see words such as we’re and we are as different words.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Fix6: Classifying the metadata allowed the model to get a better idea at what category the question is in.</a:t>
            </a:r>
            <a:endParaRPr/>
          </a:p>
        </p:txBody>
      </p:sp>
      <p:pic>
        <p:nvPicPr>
          <p:cNvPr id="152" name="Google Shape;152;p29" title="螢幕擷取畫面 2025-12-04 0014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22" y="3501972"/>
            <a:ext cx="4450350" cy="89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 title="螢幕擷取畫面 2025-12-04 0026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481" y="3153250"/>
            <a:ext cx="4196649" cy="15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Postprocessing</a:t>
            </a:r>
            <a:endParaRPr/>
          </a:p>
        </p:txBody>
      </p:sp>
      <p:sp>
        <p:nvSpPr>
          <p:cNvPr id="159" name="Google Shape;159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 Postprocess Code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5438"/>
            <a:ext cx="5058975" cy="32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/>
          <p:nvPr/>
        </p:nvSpPr>
        <p:spPr>
          <a:xfrm>
            <a:off x="5552975" y="1274375"/>
            <a:ext cx="3109200" cy="3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2"/>
                </a:solidFill>
              </a:rPr>
              <a:t>Sort all prediction scores in the column from smallest to largest, select the bottom X%, and force those bottom entries to be changed to 0.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Why it works</a:t>
            </a:r>
            <a:r>
              <a:rPr lang="zh-TW"/>
              <a:t>？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600"/>
              <a:t>Because we use Spearman's to rank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Ex.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ground truth = A:0、B:0、C:0、D:0.5、E:1.0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output = A:0.0001、B:0.0003、C:0.0002、D:0.4、E:0.9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output after post process: A:0、B:0、C:0、D:0.4、E:0.9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true ranking:  ABC, D, 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predicted ranking(bofore post process): A, B, C, D, 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predicted </a:t>
            </a:r>
            <a:r>
              <a:rPr lang="zh-TW" sz="1600"/>
              <a:t>ranking(after post process): </a:t>
            </a:r>
            <a:r>
              <a:rPr lang="zh-TW" sz="1600"/>
              <a:t>ABC, D, 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Our thoughts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3844200" cy="4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600"/>
              <a:t>Identify an optimal cutoff point (e.g., 0.05) and forcibly set all prediction values below it to 0 to restore tied rankings. (The original code directly cut at the 99th percentile.</a:t>
            </a:r>
            <a:endParaRPr sz="1600"/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600"/>
              <a:t>We use the OOF data generated from cross-validation.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We run experiments using the OOF predictions and the true labels.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The computer then automatically runs a trial-and-error loop.”</a:t>
            </a:r>
            <a:endParaRPr sz="1600"/>
          </a:p>
          <a:p>
            <a:pPr indent="-299719" lvl="1" marL="9144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○"/>
            </a:pPr>
            <a:r>
              <a:rPr lang="zh-TW" sz="1600"/>
              <a:t>「cutting at 0.01 ，how much is the Spearman ？」 -&gt; 0.35</a:t>
            </a:r>
            <a:endParaRPr sz="1600"/>
          </a:p>
          <a:p>
            <a:pPr indent="-299719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○"/>
            </a:pPr>
            <a:r>
              <a:rPr lang="zh-TW" sz="1600"/>
              <a:t>「</a:t>
            </a:r>
            <a:r>
              <a:rPr lang="zh-TW" sz="1600"/>
              <a:t>cutting at</a:t>
            </a:r>
            <a:r>
              <a:rPr lang="zh-TW" sz="1600"/>
              <a:t> 0.02 ，</a:t>
            </a:r>
            <a:r>
              <a:rPr lang="zh-TW" sz="1600"/>
              <a:t>how much is the </a:t>
            </a:r>
            <a:r>
              <a:rPr lang="zh-TW" sz="1600"/>
              <a:t>Spearman ？」 -&gt; 0.38</a:t>
            </a:r>
            <a:endParaRPr sz="1600"/>
          </a:p>
          <a:p>
            <a:pPr indent="-299719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○"/>
            </a:pPr>
            <a:r>
              <a:rPr lang="zh-TW" sz="1600"/>
              <a:t>「</a:t>
            </a:r>
            <a:r>
              <a:rPr lang="zh-TW" sz="1600"/>
              <a:t>cutting at</a:t>
            </a:r>
            <a:r>
              <a:rPr lang="zh-TW" sz="1600"/>
              <a:t> 0.05 ，</a:t>
            </a:r>
            <a:r>
              <a:rPr lang="zh-TW" sz="1600"/>
              <a:t>how much is the Spearman ？</a:t>
            </a:r>
            <a:r>
              <a:rPr lang="zh-TW" sz="1600"/>
              <a:t>」 -&gt; 0.42 (too high!)</a:t>
            </a:r>
            <a:endParaRPr sz="1600"/>
          </a:p>
          <a:p>
            <a:pPr indent="-299719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○"/>
            </a:pPr>
            <a:r>
              <a:rPr lang="zh-TW" sz="1600"/>
              <a:t>「</a:t>
            </a:r>
            <a:r>
              <a:rPr lang="zh-TW" sz="1600"/>
              <a:t>cutting at</a:t>
            </a:r>
            <a:r>
              <a:rPr lang="zh-TW" sz="1600"/>
              <a:t> 0.10 ，</a:t>
            </a:r>
            <a:r>
              <a:rPr lang="zh-TW" sz="1600"/>
              <a:t>how much is the Spearman ？</a:t>
            </a:r>
            <a:r>
              <a:rPr lang="zh-TW" sz="1600"/>
              <a:t>」 -&gt; 0.40 (It cut too much, and the score started to drop.)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775" y="92775"/>
            <a:ext cx="4720824" cy="33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4650" y="3457950"/>
            <a:ext cx="4777076" cy="16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design</a:t>
            </a:r>
            <a:endParaRPr/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311700" y="1152475"/>
            <a:ext cx="444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started with a very simple pre-trained model with a regression head as our baseline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use ModernBeert as pretrained model for its effectiveness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used MSE loss at first, then transitioned to a weighted combination of BCE and Spearman loss</a:t>
            </a:r>
            <a:endParaRPr/>
          </a:p>
        </p:txBody>
      </p:sp>
      <p:pic>
        <p:nvPicPr>
          <p:cNvPr id="188" name="Google Shape;188;p34" title="Screenshot 2025-12-04 at 12.10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775" y="1152475"/>
            <a:ext cx="328320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design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444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If Spearman correlation is our evaluation metric, why not use it as our loss function?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Spearnman isn’t differentiable, so we use Pearson correlation to approximate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Slightly improves performance, but bigger gains come from pre/post-processing</a:t>
            </a:r>
            <a:endParaRPr/>
          </a:p>
        </p:txBody>
      </p:sp>
      <p:pic>
        <p:nvPicPr>
          <p:cNvPr id="195" name="Google Shape;195;p35" title="Screenshot 2025-12-04 at 12.22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388" y="1017713"/>
            <a:ext cx="3688024" cy="32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1875" y="3907325"/>
            <a:ext cx="2627524" cy="6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Initial Results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Minimal pre-processing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MSE as loss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Modern-bert base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Trained until overfitting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Baseline Spearman Rho was 0.37 before any optimization steps</a:t>
            </a:r>
            <a:endParaRPr/>
          </a:p>
        </p:txBody>
      </p:sp>
      <p:pic>
        <p:nvPicPr>
          <p:cNvPr id="202" name="Google Shape;2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325" y="1519300"/>
            <a:ext cx="3747000" cy="19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Improved results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507450" y="1302850"/>
            <a:ext cx="4448700" cy="3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introduced post-processing techniques that exploit the characteristics of human rated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</a:t>
            </a:r>
            <a:r>
              <a:rPr lang="zh-TW"/>
              <a:t>e modified the truncation strategy from standard (first N tokens) to head-tail (first N/2 + last N/2)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Replaced MSE with a hybrid of Binary Cross Entropy and Differentiable Spearman (Pearson)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Reached Spearman Rho of 0.43</a:t>
            </a:r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250" y="1302850"/>
            <a:ext cx="2517250" cy="32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Ideas to be implemented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152475"/>
            <a:ext cx="858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 sz="1800"/>
              <a:t>Domain-specific Masked </a:t>
            </a:r>
            <a:r>
              <a:rPr lang="zh-TW"/>
              <a:t>Language Modeling (</a:t>
            </a:r>
            <a:r>
              <a:rPr lang="zh-TW" sz="1800"/>
              <a:t>MLM) fine-tuning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Fine-tune BERT with Masked Language Modeling on StackExchange data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Teaches model domain vocabulary before classification task</a:t>
            </a:r>
            <a:endParaRPr sz="1800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800"/>
              <a:t>Pseudo-labeling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Train multiple models on labeled data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Use ENSEMBLE of models to generate pseudo-labels for scraped data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Train final model on combined (labeled + pseudo-labeled) data</a:t>
            </a:r>
            <a:endParaRPr sz="1800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800"/>
              <a:t>Distilled knowledge (LLM-as-Judge)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Use SOTA model (GPT-4/Gemini) to evaluate QA pairs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Generate reasoning/scores for each pair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Append to input </a:t>
            </a:r>
            <a:r>
              <a:rPr lang="zh-TW" sz="1800"/>
              <a:t>OR</a:t>
            </a:r>
            <a:r>
              <a:rPr lang="zh-TW" sz="1800"/>
              <a:t> use as features OR use as pseudo-labels</a:t>
            </a:r>
            <a:endParaRPr sz="1800"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800"/>
              <a:t>Train BERT on this enriched dataset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